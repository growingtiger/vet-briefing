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9601200" cy="12172950"/>
          </a:xfrm>
          <a:prstGeom prst="rect">
            <a:avLst/>
          </a:prstGeom>
          <a:noFill/>
          <a:ln w="19050">
            <a:solidFill>
              <a:srgbClr val="D7CD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150" y="438150"/>
            <a:ext cx="9410700" cy="11982450"/>
          </a:xfrm>
          <a:prstGeom prst="rect">
            <a:avLst/>
          </a:prstGeom>
          <a:noFill/>
          <a:ln w="9525">
            <a:solidFill>
              <a:srgbClr val="EB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1143000"/>
            <a:ext cx="1428750" cy="142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048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400">
                <a:solidFill>
                  <a:srgbClr val="AF9476"/>
                </a:solidFill>
                <a:latin typeface="Noto Sans KR"/>
                <a:ea typeface="Noto Sans KR"/>
              </a:rPr>
              <a:t>SIGNATURE ANIMAL MEDICAL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819650" y="3733800"/>
            <a:ext cx="647700" cy="28575"/>
          </a:xfrm>
          <a:prstGeom prst="rect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0005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spc="500">
                <a:solidFill>
                  <a:srgbClr val="5A637B"/>
                </a:solidFill>
                <a:latin typeface="Noto Sans KR"/>
                <a:ea typeface="Noto Sans KR"/>
              </a:rPr>
              <a:t>DENTAL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762500"/>
            <a:ext cx="85725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sz="3800" b="0">
                <a:solidFill>
                  <a:srgbClr val="212E51"/>
                </a:solidFill>
                <a:latin typeface="Nanum Myeongjo"/>
                <a:ea typeface="Nanum Myeongjo"/>
              </a:rPr>
              <a:t>우리 아이 첫 양치 도구,</a:t>
            </a:r>
          </a:p>
          <a:p>
            <a:pPr algn="ctr">
              <a:lnSpc>
                <a:spcPts val="5500"/>
              </a:lnSpc>
            </a:pPr>
            <a:r>
              <a:rPr sz="3800" b="0">
                <a:solidFill>
                  <a:srgbClr val="212E51"/>
                </a:solidFill>
                <a:latin typeface="Nanum Myeongjo"/>
                <a:ea typeface="Nanum Myeongjo"/>
              </a:rPr>
              <a:t>어떻게 골라야 할까요?</a:t>
            </a:r>
          </a:p>
        </p:txBody>
      </p:sp>
      <p:sp>
        <p:nvSpPr>
          <p:cNvPr id="10" name="Diamond 9"/>
          <p:cNvSpPr/>
          <p:nvPr/>
        </p:nvSpPr>
        <p:spPr>
          <a:xfrm>
            <a:off x="5086350" y="7467600"/>
            <a:ext cx="114300" cy="114300"/>
          </a:xfrm>
          <a:prstGeom prst="diamond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7810500"/>
            <a:ext cx="8001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700" b="0">
                <a:solidFill>
                  <a:srgbClr val="5A637B"/>
                </a:solidFill>
                <a:latin typeface="Noto Sans KR"/>
                <a:ea typeface="Noto Sans KR"/>
              </a:rPr>
              <a:t>칫솔·치약 고르는 기준부터 양치 습관 들이기까지, 한 번에 정리해 드립니다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04875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spc="200">
                <a:solidFill>
                  <a:srgbClr val="AF9476"/>
                </a:solidFill>
                <a:latin typeface="Noto Sans KR"/>
                <a:ea typeface="Noto Sans KR"/>
              </a:rPr>
              <a:t>2026. 08. 15</a:t>
            </a:r>
          </a:p>
        </p:txBody>
      </p:sp>
      <p:pic>
        <p:nvPicPr>
          <p:cNvPr id="13" name="Picture 12" descr="icon-to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98107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9601200" cy="12172950"/>
          </a:xfrm>
          <a:prstGeom prst="rect">
            <a:avLst/>
          </a:prstGeom>
          <a:noFill/>
          <a:ln w="19050">
            <a:solidFill>
              <a:srgbClr val="D7CD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150" y="438150"/>
            <a:ext cx="9410700" cy="11982450"/>
          </a:xfrm>
          <a:prstGeom prst="rect">
            <a:avLst/>
          </a:prstGeom>
          <a:noFill/>
          <a:ln w="9525">
            <a:solidFill>
              <a:srgbClr val="EB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0" y="571500"/>
            <a:ext cx="4000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0" b="0">
                <a:solidFill>
                  <a:srgbClr val="EAE1D3"/>
                </a:solidFill>
                <a:latin typeface="Nanum Myeongjo"/>
                <a:ea typeface="Nanum Myeongj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143000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400">
                <a:solidFill>
                  <a:srgbClr val="AF9476"/>
                </a:solidFill>
                <a:latin typeface="Noto Sans KR"/>
                <a:ea typeface="Noto Sans KR"/>
              </a:rPr>
              <a:t>DENTAL NOTE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866900"/>
            <a:ext cx="800100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sz="2700" b="0">
                <a:solidFill>
                  <a:srgbClr val="212E51"/>
                </a:solidFill>
                <a:latin typeface="Nanum Myeongjo"/>
                <a:ea typeface="Nanum Myeongjo"/>
              </a:rPr>
              <a:t>칫솔은 '가장 부드러운 모'가</a:t>
            </a:r>
          </a:p>
          <a:p>
            <a:pPr algn="l">
              <a:lnSpc>
                <a:spcPts val="4000"/>
              </a:lnSpc>
            </a:pPr>
            <a:r>
              <a:rPr sz="2700" b="0">
                <a:solidFill>
                  <a:srgbClr val="212E51"/>
                </a:solidFill>
                <a:latin typeface="Nanum Myeongjo"/>
                <a:ea typeface="Nanum Myeongjo"/>
              </a:rPr>
              <a:t>기준입니다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3848100"/>
            <a:ext cx="838200" cy="38100"/>
          </a:xfrm>
          <a:prstGeom prst="rect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" y="4286250"/>
            <a:ext cx="83058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750" b="0">
                <a:solidFill>
                  <a:srgbClr val="212E51"/>
                </a:solidFill>
                <a:latin typeface="Noto Sans KR"/>
                <a:ea typeface="Noto Sans KR"/>
              </a:rPr>
              <a:t>강아지와 고양이의 치아는 단단해 보이지만, 겉을 감싸는 법랑질(에나멜)의 두께는 0.1~1mm 정도로 사람보다 얇습니다. 이 얇은 보호막에 뻣뻣한 칫솔모를 대고 세게 문지르면 치아 표면이 마모되고 시림이 생길 수 있습니다. 칫솔을 고르실 때는 아래 세 가지를 확인해 주세요.</a:t>
            </a:r>
          </a:p>
        </p:txBody>
      </p:sp>
      <p:sp>
        <p:nvSpPr>
          <p:cNvPr id="10" name="Diamond 9"/>
          <p:cNvSpPr/>
          <p:nvPr/>
        </p:nvSpPr>
        <p:spPr>
          <a:xfrm>
            <a:off x="1000125" y="7858125"/>
            <a:ext cx="133350" cy="133350"/>
          </a:xfrm>
          <a:prstGeom prst="diamond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7715250"/>
            <a:ext cx="792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650" b="0">
                <a:solidFill>
                  <a:srgbClr val="212E51"/>
                </a:solidFill>
                <a:latin typeface="Noto Sans KR"/>
                <a:ea typeface="Noto Sans KR"/>
              </a:rPr>
              <a:t>잇몸과 치아에 자극이 적은 '가장 부드러운 미세모'를 고릅니다.</a:t>
            </a:r>
          </a:p>
        </p:txBody>
      </p:sp>
      <p:sp>
        <p:nvSpPr>
          <p:cNvPr id="12" name="Diamond 11"/>
          <p:cNvSpPr/>
          <p:nvPr/>
        </p:nvSpPr>
        <p:spPr>
          <a:xfrm>
            <a:off x="1000125" y="8848725"/>
            <a:ext cx="133350" cy="133350"/>
          </a:xfrm>
          <a:prstGeom prst="diamond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8705850"/>
            <a:ext cx="792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650" b="0">
                <a:solidFill>
                  <a:srgbClr val="212E51"/>
                </a:solidFill>
                <a:latin typeface="Noto Sans KR"/>
                <a:ea typeface="Noto Sans KR"/>
              </a:rPr>
              <a:t>머리가 작고 목이 긴 반려동물 전용 칫솔이어야 안쪽 어금니까지 닿습니다.</a:t>
            </a:r>
          </a:p>
        </p:txBody>
      </p:sp>
      <p:sp>
        <p:nvSpPr>
          <p:cNvPr id="14" name="Diamond 13"/>
          <p:cNvSpPr/>
          <p:nvPr/>
        </p:nvSpPr>
        <p:spPr>
          <a:xfrm>
            <a:off x="1000125" y="9839325"/>
            <a:ext cx="133350" cy="133350"/>
          </a:xfrm>
          <a:prstGeom prst="diamond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9696450"/>
            <a:ext cx="792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650" b="0">
                <a:solidFill>
                  <a:srgbClr val="212E51"/>
                </a:solidFill>
                <a:latin typeface="Noto Sans KR"/>
                <a:ea typeface="Noto Sans KR"/>
              </a:rPr>
              <a:t>칫솔모가 벌어지기 시작하면 새 칫솔로 교체해 주세요.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10915650"/>
            <a:ext cx="247650" cy="28575"/>
          </a:xfrm>
          <a:prstGeom prst="rect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10763250"/>
            <a:ext cx="762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37B"/>
                </a:solidFill>
                <a:latin typeface="Noto Sans KR"/>
                <a:ea typeface="Noto Sans KR"/>
              </a:rPr>
              <a:t>Crossley DA. J Vet Dent 1995;12(3):111-113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9601200" cy="12172950"/>
          </a:xfrm>
          <a:prstGeom prst="rect">
            <a:avLst/>
          </a:prstGeom>
          <a:noFill/>
          <a:ln w="19050">
            <a:solidFill>
              <a:srgbClr val="D7CD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150" y="438150"/>
            <a:ext cx="9410700" cy="11982450"/>
          </a:xfrm>
          <a:prstGeom prst="rect">
            <a:avLst/>
          </a:prstGeom>
          <a:noFill/>
          <a:ln w="9525">
            <a:solidFill>
              <a:srgbClr val="EB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0" y="571500"/>
            <a:ext cx="4000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0" b="0">
                <a:solidFill>
                  <a:srgbClr val="EAE1D3"/>
                </a:solidFill>
                <a:latin typeface="Nanum Myeongjo"/>
                <a:ea typeface="Nanum Myeongj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428750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400">
                <a:solidFill>
                  <a:srgbClr val="AF9476"/>
                </a:solidFill>
                <a:latin typeface="Noto Sans KR"/>
                <a:ea typeface="Noto Sans KR"/>
              </a:rPr>
              <a:t>DENTAL NOTE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152650"/>
            <a:ext cx="800100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sz="2700" b="0">
                <a:solidFill>
                  <a:srgbClr val="212E51"/>
                </a:solidFill>
                <a:latin typeface="Nanum Myeongjo"/>
                <a:ea typeface="Nanum Myeongjo"/>
              </a:rPr>
              <a:t>여기에 카드 제목을 입력하세요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4133850"/>
            <a:ext cx="838200" cy="38100"/>
          </a:xfrm>
          <a:prstGeom prst="rect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" y="4572000"/>
            <a:ext cx="8305800" cy="57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750" b="0">
                <a:solidFill>
                  <a:srgbClr val="212E51"/>
                </a:solidFill>
                <a:latin typeface="Noto Sans KR"/>
                <a:ea typeface="Noto Sans KR"/>
              </a:rPr>
              <a:t>여기에 본문을 입력하세요. 보호자님께 말씀드리듯 존댓말로, 네다섯 문장 정도로 충실하게 적어 주세요. 어려운 전문용어는 괄호 안에 쉬운 말로 풀어 쓰면 좋습니다. 문단이 길어지면 카드를 나누는 것이 읽기에 편합니다.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9601200" cy="12172950"/>
          </a:xfrm>
          <a:prstGeom prst="rect">
            <a:avLst/>
          </a:prstGeom>
          <a:noFill/>
          <a:ln w="19050">
            <a:solidFill>
              <a:srgbClr val="D7CD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150" y="438150"/>
            <a:ext cx="9410700" cy="11982450"/>
          </a:xfrm>
          <a:prstGeom prst="rect">
            <a:avLst/>
          </a:prstGeom>
          <a:noFill/>
          <a:ln w="9525">
            <a:solidFill>
              <a:srgbClr val="EBE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428750"/>
            <a:ext cx="952500" cy="95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8575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400">
                <a:solidFill>
                  <a:srgbClr val="AF9476"/>
                </a:solidFill>
                <a:latin typeface="Noto Sans KR"/>
                <a:ea typeface="Noto Sans KR"/>
              </a:rPr>
              <a:t>SIGNATURE PRESCRIPTION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028700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900" b="0">
                <a:solidFill>
                  <a:srgbClr val="212E51"/>
                </a:solidFill>
                <a:latin typeface="Nanum Myeongjo"/>
                <a:ea typeface="Nanum Myeongjo"/>
              </a:rPr>
              <a:t>시그니처 처방전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9650" y="4552950"/>
            <a:ext cx="647700" cy="28575"/>
          </a:xfrm>
          <a:prstGeom prst="rect">
            <a:avLst/>
          </a:prstGeom>
          <a:solidFill>
            <a:srgbClr val="AF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048250"/>
            <a:ext cx="7429500" cy="409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00"/>
              </a:lnSpc>
            </a:pPr>
            <a:r>
              <a:rPr sz="1750" b="0">
                <a:solidFill>
                  <a:srgbClr val="212E51"/>
                </a:solidFill>
                <a:latin typeface="Noto Sans KR"/>
                <a:ea typeface="Noto Sans KR"/>
              </a:rPr>
              <a:t>여기에 마무리 요약을 입력하세요. 오늘 내용의 핵심을 두세 문장으로 정리하고, 진료가 필요한 신호를 알려드리며 마치면 좋습니다.</a:t>
            </a:r>
          </a:p>
        </p:txBody>
      </p:sp>
      <p:pic>
        <p:nvPicPr>
          <p:cNvPr id="10" name="Picture 9" descr="icon-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962025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